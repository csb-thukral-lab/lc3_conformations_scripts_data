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1D42EC-D34E-EB85-2B22-5B0F2535B3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370EE72-F566-13D3-E539-0E68BFE344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0C18F4-B805-A56F-6E5C-A4BEF5B1CC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E51011-8167-7E42-9CE6-7962F3FAAE07}" type="datetimeFigureOut">
              <a:rPr lang="en-US" smtClean="0"/>
              <a:t>7/1/26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9EDCF6-7E5E-6F79-050D-CF4D50A0E3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F400FD-D924-2DD3-436A-6C541E1347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F2725-83DC-DA40-9192-64C7407D36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31176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532DA1-90B3-2408-DCC3-642A3ECF70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96F36B-A95D-14C5-8212-0A0B2EFFC6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6B35D2-0F51-E0A6-C57D-9E232B0AAD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E51011-8167-7E42-9CE6-7962F3FAAE07}" type="datetimeFigureOut">
              <a:rPr lang="en-US" smtClean="0"/>
              <a:t>7/1/26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C73B45-AD38-EFEE-4180-7160204430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86DD25-9988-CE96-CBA0-45BE920536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F2725-83DC-DA40-9192-64C7407D36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94768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522330-2BC0-1D6F-C899-45B8BEB6EF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8AAD9B-3A43-353F-F079-D6AA399C97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2CB4AB-1A8B-BB5B-40A6-0D2DEB69F6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E51011-8167-7E42-9CE6-7962F3FAAE07}" type="datetimeFigureOut">
              <a:rPr lang="en-US" smtClean="0"/>
              <a:t>7/1/26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CE5C63-53EB-6FCE-5987-279A5F851D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291C86-A3DC-36A9-25FE-9C55A7D79D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F2725-83DC-DA40-9192-64C7407D36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77122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9D4849-8D46-F11A-98FE-9CFEAE5D92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523BCE-C130-7064-5C0E-54ACD9540FD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32552F-44CA-7F16-BCCC-1C999C57FF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5B9004-9951-5E2D-3F18-A11CF75B7B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E51011-8167-7E42-9CE6-7962F3FAAE07}" type="datetimeFigureOut">
              <a:rPr lang="en-US" smtClean="0"/>
              <a:t>7/1/26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A43C21-DC04-C208-AD94-33FE1FDF96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FD1D46-D679-00FA-3C65-359F591945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F2725-83DC-DA40-9192-64C7407D36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5774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0E61DC-A652-245E-93F9-78986F0609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255256-B4C0-A086-4029-1195D4791F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2DB8D89-3438-7174-0DE2-2E256E8CBA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62C64D6-2020-FD06-4795-850E98E5448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97E9E60-13CE-4BDE-3807-FF5E3951452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117000D-9527-B518-DCEF-6BBFA36EEF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E51011-8167-7E42-9CE6-7962F3FAAE07}" type="datetimeFigureOut">
              <a:rPr lang="en-US" smtClean="0"/>
              <a:t>7/1/26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CC8479-07B2-88C7-4C77-AB6D1131E5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D2EA9FD-6781-189E-21C7-E0D756DE64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F2725-83DC-DA40-9192-64C7407D36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31235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A5580E-DBD7-3E5C-6C6E-10BD990B74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F442D70-8408-7D84-D837-3001A5CFF4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E51011-8167-7E42-9CE6-7962F3FAAE07}" type="datetimeFigureOut">
              <a:rPr lang="en-US" smtClean="0"/>
              <a:t>7/1/26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CDD357A-D5C6-201F-1FEC-C1A72B3107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65D7C0D-3BA7-814D-7AD9-756EFE3D2B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F2725-83DC-DA40-9192-64C7407D36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66468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B370736-ED9C-69E3-5DFA-2A6425C52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E51011-8167-7E42-9CE6-7962F3FAAE07}" type="datetimeFigureOut">
              <a:rPr lang="en-US" smtClean="0"/>
              <a:t>7/1/26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D0E366A-5DAA-D421-6106-22FF93BEB4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4598D6-2037-6D17-1C93-97928FE5B7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F2725-83DC-DA40-9192-64C7407D36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10126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F0456F-4508-7965-A3CF-1141CE5EEB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ADBF35-FE56-1741-7021-1DC29E63F1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72DC28-14CA-A684-096E-A56E1794DA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93AA1B-8A0A-3AB3-9D45-6248EE618C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E51011-8167-7E42-9CE6-7962F3FAAE07}" type="datetimeFigureOut">
              <a:rPr lang="en-US" smtClean="0"/>
              <a:t>7/1/26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E02373-95F1-2E44-429D-C9ACFE4F95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4D6B88-93BE-641D-EAD5-02F913D46D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F2725-83DC-DA40-9192-64C7407D36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5782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3E05D5-009C-10FA-8E77-C8E24350F2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60B5A54-8AC8-F4B6-8B0A-A1A3407FA2B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DB8121-EBAE-7377-694A-3EE148E6F6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8EFC16-6003-33BC-9CEA-410023270A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E51011-8167-7E42-9CE6-7962F3FAAE07}" type="datetimeFigureOut">
              <a:rPr lang="en-US" smtClean="0"/>
              <a:t>7/1/26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3D3312-F9BA-2110-988E-5DE269BB36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58D724-A072-5179-EB86-5D45DED456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F2725-83DC-DA40-9192-64C7407D36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1363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521935-DFF7-3B5B-AAF3-6F0343A991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CDCE87-E29A-2583-A506-B6DBC839C7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A94C92-DEC0-2A0D-9D3E-2ED0611CAF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E51011-8167-7E42-9CE6-7962F3FAAE07}" type="datetimeFigureOut">
              <a:rPr lang="en-US" smtClean="0"/>
              <a:t>7/1/26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89EA65-4482-AEDF-0E14-C24EADE4E6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C397EF-A095-90DD-8BFB-009CA3D6E3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F2725-83DC-DA40-9192-64C7407D36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36642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48B894E-FC22-BEE6-C1DF-94424CF9092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626BE90-B5F1-76CC-FD5A-7A7FE7D1F6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1160C6-E6B7-CEE4-8A21-FAAC04BB03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E51011-8167-7E42-9CE6-7962F3FAAE07}" type="datetimeFigureOut">
              <a:rPr lang="en-US" smtClean="0"/>
              <a:t>7/1/26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E6C0F6-9C6B-5F86-4FEE-7BBD72B82F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ECD27E-5B98-1274-8774-2FA974AB59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F2725-83DC-DA40-9192-64C7407D36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87043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EF0E043-3A2D-35C0-098A-063B8C8C2C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B8831F-557E-4C93-FDD8-71058DEB0F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C489F4-DF99-2DA5-A991-ACA798CE62D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8E51011-8167-7E42-9CE6-7962F3FAAE07}" type="datetimeFigureOut">
              <a:rPr lang="en-US" smtClean="0"/>
              <a:t>7/1/26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829273-9A28-119D-DA63-38DA554455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16D33C-6505-5BE6-7C96-30BF023F322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59F2725-83DC-DA40-9192-64C7407D36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99676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microsoft.com/office/2007/relationships/hdphoto" Target="../media/hdphoto2.wdp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microsoft.com/office/2007/relationships/hdphoto" Target="../media/hdphoto8.wdp"/><Relationship Id="rId3" Type="http://schemas.microsoft.com/office/2007/relationships/hdphoto" Target="../media/hdphoto3.wdp"/><Relationship Id="rId7" Type="http://schemas.microsoft.com/office/2007/relationships/hdphoto" Target="../media/hdphoto5.wdp"/><Relationship Id="rId12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11" Type="http://schemas.microsoft.com/office/2007/relationships/hdphoto" Target="../media/hdphoto7.wdp"/><Relationship Id="rId5" Type="http://schemas.microsoft.com/office/2007/relationships/hdphoto" Target="../media/hdphoto4.wdp"/><Relationship Id="rId10" Type="http://schemas.openxmlformats.org/officeDocument/2006/relationships/image" Target="../media/image8.png"/><Relationship Id="rId4" Type="http://schemas.openxmlformats.org/officeDocument/2006/relationships/image" Target="../media/image5.png"/><Relationship Id="rId9" Type="http://schemas.microsoft.com/office/2007/relationships/hdphoto" Target="../media/hdphoto6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Picture 63">
            <a:extLst>
              <a:ext uri="{FF2B5EF4-FFF2-40B4-BE49-F238E27FC236}">
                <a16:creationId xmlns:a16="http://schemas.microsoft.com/office/drawing/2014/main" id="{DBF1D740-FFBB-058C-F22C-DF4D3393AC4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3000" contrast="19000"/>
                    </a14:imgEffect>
                  </a14:imgLayer>
                </a14:imgProps>
              </a:ext>
            </a:extLst>
          </a:blip>
          <a:srcRect l="127" t="-490" r="459" b="998"/>
          <a:stretch>
            <a:fillRect/>
          </a:stretch>
        </p:blipFill>
        <p:spPr>
          <a:xfrm>
            <a:off x="1268081" y="1262443"/>
            <a:ext cx="2209800" cy="1662481"/>
          </a:xfrm>
          <a:prstGeom prst="rect">
            <a:avLst/>
          </a:prstGeom>
          <a:ln w="3175">
            <a:noFill/>
          </a:ln>
        </p:spPr>
      </p:pic>
      <p:sp>
        <p:nvSpPr>
          <p:cNvPr id="65" name="Rectangle 64">
            <a:extLst>
              <a:ext uri="{FF2B5EF4-FFF2-40B4-BE49-F238E27FC236}">
                <a16:creationId xmlns:a16="http://schemas.microsoft.com/office/drawing/2014/main" id="{C549F61D-F05D-FE1F-DA0C-18F606EE7C30}"/>
              </a:ext>
            </a:extLst>
          </p:cNvPr>
          <p:cNvSpPr/>
          <p:nvPr/>
        </p:nvSpPr>
        <p:spPr>
          <a:xfrm>
            <a:off x="1409595" y="1786589"/>
            <a:ext cx="1936249" cy="697451"/>
          </a:xfrm>
          <a:prstGeom prst="rect">
            <a:avLst/>
          </a:prstGeom>
          <a:noFill/>
          <a:ln w="952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7" name="Group 66">
            <a:extLst>
              <a:ext uri="{FF2B5EF4-FFF2-40B4-BE49-F238E27FC236}">
                <a16:creationId xmlns:a16="http://schemas.microsoft.com/office/drawing/2014/main" id="{93C91BE7-AA2A-7902-8F58-A7001179FFCD}"/>
              </a:ext>
            </a:extLst>
          </p:cNvPr>
          <p:cNvGrpSpPr/>
          <p:nvPr/>
        </p:nvGrpSpPr>
        <p:grpSpPr>
          <a:xfrm>
            <a:off x="1484734" y="-236655"/>
            <a:ext cx="2567121" cy="1482005"/>
            <a:chOff x="2185630" y="1473932"/>
            <a:chExt cx="2567121" cy="1482005"/>
          </a:xfrm>
        </p:grpSpPr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D3D1C901-4F1A-9DB4-0D6A-F9E6A0D284B8}"/>
                </a:ext>
              </a:extLst>
            </p:cNvPr>
            <p:cNvSpPr txBox="1"/>
            <p:nvPr/>
          </p:nvSpPr>
          <p:spPr>
            <a:xfrm>
              <a:off x="3755029" y="2733874"/>
              <a:ext cx="997722" cy="2170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900" dirty="0">
                  <a:latin typeface="Arial" panose="020B0604020202020204" pitchFamily="34" charset="0"/>
                  <a:cs typeface="Arial" panose="020B0604020202020204" pitchFamily="34" charset="0"/>
                </a:rPr>
                <a:t>Starve (6 h)</a:t>
              </a:r>
            </a:p>
          </p:txBody>
        </p:sp>
        <p:sp>
          <p:nvSpPr>
            <p:cNvPr id="69" name="Triangle 68">
              <a:extLst>
                <a:ext uri="{FF2B5EF4-FFF2-40B4-BE49-F238E27FC236}">
                  <a16:creationId xmlns:a16="http://schemas.microsoft.com/office/drawing/2014/main" id="{761E139C-327D-7FFA-A7AA-1EAE512FB108}"/>
                </a:ext>
              </a:extLst>
            </p:cNvPr>
            <p:cNvSpPr/>
            <p:nvPr/>
          </p:nvSpPr>
          <p:spPr>
            <a:xfrm rot="5400000" flipV="1">
              <a:off x="3941024" y="2815706"/>
              <a:ext cx="66432" cy="64569"/>
            </a:xfrm>
            <a:prstGeom prst="triangl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00" dirty="0"/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4E085381-A89C-CD5C-26B9-E6D9C7FC44C7}"/>
                </a:ext>
              </a:extLst>
            </p:cNvPr>
            <p:cNvSpPr txBox="1"/>
            <p:nvPr/>
          </p:nvSpPr>
          <p:spPr>
            <a:xfrm>
              <a:off x="2320841" y="2740471"/>
              <a:ext cx="764499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00" dirty="0"/>
                <a:t>Input (10%)</a:t>
              </a:r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CA22F903-C9D7-CFD6-9F78-D6FADEE8B6E6}"/>
                </a:ext>
              </a:extLst>
            </p:cNvPr>
            <p:cNvSpPr txBox="1"/>
            <p:nvPr/>
          </p:nvSpPr>
          <p:spPr>
            <a:xfrm rot="16200000">
              <a:off x="1993791" y="2406077"/>
              <a:ext cx="586244" cy="2025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00" dirty="0">
                  <a:latin typeface="Arial" panose="020B0604020202020204" pitchFamily="34" charset="0"/>
                  <a:cs typeface="Arial" panose="020B0604020202020204" pitchFamily="34" charset="0"/>
                </a:rPr>
                <a:t>eGFP</a:t>
              </a:r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37F16C14-61F0-DDFE-7BBD-C66B80D84BD9}"/>
                </a:ext>
              </a:extLst>
            </p:cNvPr>
            <p:cNvSpPr txBox="1"/>
            <p:nvPr/>
          </p:nvSpPr>
          <p:spPr>
            <a:xfrm rot="16200000">
              <a:off x="2023397" y="2203405"/>
              <a:ext cx="982620" cy="2115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00" dirty="0">
                  <a:latin typeface="Arial" panose="020B0604020202020204" pitchFamily="34" charset="0"/>
                  <a:cs typeface="Arial" panose="020B0604020202020204" pitchFamily="34" charset="0"/>
                </a:rPr>
                <a:t>eGFP-LC3B-WT</a:t>
              </a:r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BEACEE22-63CD-958E-39DE-A2D98686CD7C}"/>
                </a:ext>
              </a:extLst>
            </p:cNvPr>
            <p:cNvSpPr txBox="1"/>
            <p:nvPr/>
          </p:nvSpPr>
          <p:spPr>
            <a:xfrm rot="16200000">
              <a:off x="2037900" y="2029485"/>
              <a:ext cx="132655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00" dirty="0">
                  <a:latin typeface="Arial" panose="020B0604020202020204" pitchFamily="34" charset="0"/>
                  <a:cs typeface="Arial" panose="020B0604020202020204" pitchFamily="34" charset="0"/>
                </a:rPr>
                <a:t>eGFP-LC3</a:t>
              </a:r>
              <a:r>
                <a:rPr lang="en-US" sz="800" baseline="30000" dirty="0">
                  <a:latin typeface="Arial" panose="020B0604020202020204" pitchFamily="34" charset="0"/>
                  <a:cs typeface="Arial" panose="020B0604020202020204" pitchFamily="34" charset="0"/>
                </a:rPr>
                <a:t>AS_Mutant2</a:t>
              </a:r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23071E29-F8FC-1EC4-888C-226A29307BB5}"/>
                </a:ext>
              </a:extLst>
            </p:cNvPr>
            <p:cNvSpPr txBox="1"/>
            <p:nvPr/>
          </p:nvSpPr>
          <p:spPr>
            <a:xfrm rot="16200000">
              <a:off x="2382418" y="2159951"/>
              <a:ext cx="106562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00" dirty="0">
                  <a:latin typeface="Arial" panose="020B0604020202020204" pitchFamily="34" charset="0"/>
                  <a:cs typeface="Arial" panose="020B0604020202020204" pitchFamily="34" charset="0"/>
                </a:rPr>
                <a:t>eGFP-LC3</a:t>
              </a:r>
              <a:r>
                <a:rPr lang="en-US" sz="800" baseline="30000" dirty="0">
                  <a:latin typeface="Arial" panose="020B0604020202020204" pitchFamily="34" charset="0"/>
                  <a:cs typeface="Arial" panose="020B0604020202020204" pitchFamily="34" charset="0"/>
                </a:rPr>
                <a:t>AS_Mutant1</a:t>
              </a:r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7026BFAF-80B3-A58F-EC5B-D2C43DB61455}"/>
                </a:ext>
              </a:extLst>
            </p:cNvPr>
            <p:cNvSpPr txBox="1"/>
            <p:nvPr/>
          </p:nvSpPr>
          <p:spPr>
            <a:xfrm>
              <a:off x="3465062" y="2744404"/>
              <a:ext cx="381557" cy="2115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00" dirty="0"/>
                <a:t>IP</a:t>
              </a:r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6923B41C-CA8B-D75C-2E65-EAAD81C13EC1}"/>
                </a:ext>
              </a:extLst>
            </p:cNvPr>
            <p:cNvSpPr txBox="1"/>
            <p:nvPr/>
          </p:nvSpPr>
          <p:spPr>
            <a:xfrm rot="16200000">
              <a:off x="2849210" y="2406077"/>
              <a:ext cx="586244" cy="2025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00" dirty="0">
                  <a:latin typeface="Arial" panose="020B0604020202020204" pitchFamily="34" charset="0"/>
                  <a:cs typeface="Arial" panose="020B0604020202020204" pitchFamily="34" charset="0"/>
                </a:rPr>
                <a:t>eGFP</a:t>
              </a:r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D7903371-B638-EB45-0812-97F7F43D5575}"/>
                </a:ext>
              </a:extLst>
            </p:cNvPr>
            <p:cNvSpPr txBox="1"/>
            <p:nvPr/>
          </p:nvSpPr>
          <p:spPr>
            <a:xfrm rot="16200000">
              <a:off x="2853130" y="2190354"/>
              <a:ext cx="1008720" cy="2115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00" dirty="0">
                  <a:latin typeface="Arial" panose="020B0604020202020204" pitchFamily="34" charset="0"/>
                  <a:cs typeface="Arial" panose="020B0604020202020204" pitchFamily="34" charset="0"/>
                </a:rPr>
                <a:t>eGFP-LC3B-WT</a:t>
              </a:r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1B3D9E48-343F-94D1-9C68-0BCCC8131ED4}"/>
                </a:ext>
              </a:extLst>
            </p:cNvPr>
            <p:cNvSpPr txBox="1"/>
            <p:nvPr/>
          </p:nvSpPr>
          <p:spPr>
            <a:xfrm rot="16200000">
              <a:off x="2978377" y="2101097"/>
              <a:ext cx="1183329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00" dirty="0">
                  <a:latin typeface="Arial" panose="020B0604020202020204" pitchFamily="34" charset="0"/>
                  <a:cs typeface="Arial" panose="020B0604020202020204" pitchFamily="34" charset="0"/>
                </a:rPr>
                <a:t>eGFP-LC3</a:t>
              </a:r>
              <a:r>
                <a:rPr lang="en-US" sz="800" baseline="30000" dirty="0">
                  <a:latin typeface="Arial" panose="020B0604020202020204" pitchFamily="34" charset="0"/>
                  <a:cs typeface="Arial" panose="020B0604020202020204" pitchFamily="34" charset="0"/>
                </a:rPr>
                <a:t>AS_Mutant2</a:t>
              </a:r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773EF290-1BA5-336B-E539-8C48F92CBE54}"/>
                </a:ext>
              </a:extLst>
            </p:cNvPr>
            <p:cNvSpPr txBox="1"/>
            <p:nvPr/>
          </p:nvSpPr>
          <p:spPr>
            <a:xfrm rot="16200000">
              <a:off x="3252889" y="2147814"/>
              <a:ext cx="1089896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00" dirty="0">
                  <a:latin typeface="Arial" panose="020B0604020202020204" pitchFamily="34" charset="0"/>
                  <a:cs typeface="Arial" panose="020B0604020202020204" pitchFamily="34" charset="0"/>
                </a:rPr>
                <a:t>eGFP-LC3</a:t>
              </a:r>
              <a:r>
                <a:rPr lang="en-US" sz="800" baseline="30000" dirty="0">
                  <a:latin typeface="Arial" panose="020B0604020202020204" pitchFamily="34" charset="0"/>
                  <a:cs typeface="Arial" panose="020B0604020202020204" pitchFamily="34" charset="0"/>
                </a:rPr>
                <a:t>AS_Mutant1</a:t>
              </a:r>
            </a:p>
          </p:txBody>
        </p: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6B814C00-7BE0-6B55-1DEB-6F5FF7DE213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217209" y="2738411"/>
              <a:ext cx="773767" cy="1129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0D309E22-37FC-08AF-D689-2315EE329F0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079715" y="2738411"/>
              <a:ext cx="773767" cy="1129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82" name="Picture 81">
            <a:extLst>
              <a:ext uri="{FF2B5EF4-FFF2-40B4-BE49-F238E27FC236}">
                <a16:creationId xmlns:a16="http://schemas.microsoft.com/office/drawing/2014/main" id="{3ADED48C-0561-2AE3-F47D-2AC37CBDC57D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4000" contrast="11000"/>
                    </a14:imgEffect>
                  </a14:imgLayer>
                </a14:imgProps>
              </a:ext>
            </a:extLst>
          </a:blip>
          <a:srcRect l="234" t="-3023" r="-100" b="-1189"/>
          <a:stretch>
            <a:fillRect/>
          </a:stretch>
        </p:blipFill>
        <p:spPr>
          <a:xfrm>
            <a:off x="1268081" y="3040340"/>
            <a:ext cx="2209800" cy="1704281"/>
          </a:xfrm>
          <a:prstGeom prst="rect">
            <a:avLst/>
          </a:prstGeom>
          <a:ln w="3175">
            <a:noFill/>
          </a:ln>
        </p:spPr>
      </p:pic>
      <p:sp>
        <p:nvSpPr>
          <p:cNvPr id="83" name="Rectangle 82">
            <a:extLst>
              <a:ext uri="{FF2B5EF4-FFF2-40B4-BE49-F238E27FC236}">
                <a16:creationId xmlns:a16="http://schemas.microsoft.com/office/drawing/2014/main" id="{96F39227-4925-E59A-00FE-C88794AE46D6}"/>
              </a:ext>
            </a:extLst>
          </p:cNvPr>
          <p:cNvSpPr/>
          <p:nvPr/>
        </p:nvSpPr>
        <p:spPr>
          <a:xfrm>
            <a:off x="1492570" y="3566935"/>
            <a:ext cx="1768585" cy="447314"/>
          </a:xfrm>
          <a:prstGeom prst="rect">
            <a:avLst/>
          </a:prstGeom>
          <a:noFill/>
          <a:ln w="952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4" name="Picture 83">
            <a:extLst>
              <a:ext uri="{FF2B5EF4-FFF2-40B4-BE49-F238E27FC236}">
                <a16:creationId xmlns:a16="http://schemas.microsoft.com/office/drawing/2014/main" id="{BAD083E7-956A-7212-C00E-3C990094D552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b="58039"/>
          <a:stretch>
            <a:fillRect/>
          </a:stretch>
        </p:blipFill>
        <p:spPr>
          <a:xfrm>
            <a:off x="1268081" y="4961656"/>
            <a:ext cx="2623912" cy="1662482"/>
          </a:xfrm>
          <a:prstGeom prst="rect">
            <a:avLst/>
          </a:prstGeom>
          <a:ln w="3175">
            <a:noFill/>
          </a:ln>
        </p:spPr>
      </p:pic>
      <p:sp>
        <p:nvSpPr>
          <p:cNvPr id="85" name="Rectangle 84">
            <a:extLst>
              <a:ext uri="{FF2B5EF4-FFF2-40B4-BE49-F238E27FC236}">
                <a16:creationId xmlns:a16="http://schemas.microsoft.com/office/drawing/2014/main" id="{483C39B4-C219-1B23-881F-07A468B0C96A}"/>
              </a:ext>
            </a:extLst>
          </p:cNvPr>
          <p:cNvSpPr/>
          <p:nvPr/>
        </p:nvSpPr>
        <p:spPr>
          <a:xfrm>
            <a:off x="1772566" y="5596615"/>
            <a:ext cx="1488589" cy="370683"/>
          </a:xfrm>
          <a:prstGeom prst="rect">
            <a:avLst/>
          </a:prstGeom>
          <a:noFill/>
          <a:ln w="952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B6ECA6E3-F152-FE8E-9D77-9CED319E03C9}"/>
              </a:ext>
            </a:extLst>
          </p:cNvPr>
          <p:cNvSpPr txBox="1"/>
          <p:nvPr/>
        </p:nvSpPr>
        <p:spPr>
          <a:xfrm>
            <a:off x="4036280" y="5695294"/>
            <a:ext cx="63992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9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Ponceau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E6A6366F-1DD9-63E4-8F95-7014EF5B3886}"/>
              </a:ext>
            </a:extLst>
          </p:cNvPr>
          <p:cNvSpPr txBox="1"/>
          <p:nvPr/>
        </p:nvSpPr>
        <p:spPr>
          <a:xfrm>
            <a:off x="3633734" y="1842907"/>
            <a:ext cx="103199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eGFP-LC3B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B0AD97A9-647B-38CE-4963-1FBC9EE8B960}"/>
              </a:ext>
            </a:extLst>
          </p:cNvPr>
          <p:cNvSpPr txBox="1"/>
          <p:nvPr/>
        </p:nvSpPr>
        <p:spPr>
          <a:xfrm>
            <a:off x="3775105" y="3552066"/>
            <a:ext cx="89061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mCherry-P62</a:t>
            </a:r>
          </a:p>
        </p:txBody>
      </p:sp>
      <p:sp>
        <p:nvSpPr>
          <p:cNvPr id="89" name="Triangle 88">
            <a:extLst>
              <a:ext uri="{FF2B5EF4-FFF2-40B4-BE49-F238E27FC236}">
                <a16:creationId xmlns:a16="http://schemas.microsoft.com/office/drawing/2014/main" id="{45A256DE-6A74-B64C-B8E2-4968A89FEF3D}"/>
              </a:ext>
            </a:extLst>
          </p:cNvPr>
          <p:cNvSpPr/>
          <p:nvPr/>
        </p:nvSpPr>
        <p:spPr>
          <a:xfrm rot="16200000" flipH="1">
            <a:off x="3737504" y="1928752"/>
            <a:ext cx="71141" cy="51584"/>
          </a:xfrm>
          <a:prstGeom prst="triangl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 dirty="0"/>
          </a:p>
        </p:txBody>
      </p:sp>
      <p:sp>
        <p:nvSpPr>
          <p:cNvPr id="90" name="Triangle 89">
            <a:extLst>
              <a:ext uri="{FF2B5EF4-FFF2-40B4-BE49-F238E27FC236}">
                <a16:creationId xmlns:a16="http://schemas.microsoft.com/office/drawing/2014/main" id="{A3AB53CD-8E69-F875-9852-90750191B75C}"/>
              </a:ext>
            </a:extLst>
          </p:cNvPr>
          <p:cNvSpPr/>
          <p:nvPr/>
        </p:nvSpPr>
        <p:spPr>
          <a:xfrm rot="16200000" flipH="1">
            <a:off x="3722709" y="3645806"/>
            <a:ext cx="71141" cy="51584"/>
          </a:xfrm>
          <a:prstGeom prst="triangl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 dirty="0"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7DDD305C-0E2F-7FB3-33D8-20166919BCED}"/>
              </a:ext>
            </a:extLst>
          </p:cNvPr>
          <p:cNvSpPr txBox="1"/>
          <p:nvPr/>
        </p:nvSpPr>
        <p:spPr>
          <a:xfrm>
            <a:off x="842965" y="1262443"/>
            <a:ext cx="3962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180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9FF9987F-1FC8-74F4-0ADA-F7614ECA37C8}"/>
              </a:ext>
            </a:extLst>
          </p:cNvPr>
          <p:cNvSpPr txBox="1"/>
          <p:nvPr/>
        </p:nvSpPr>
        <p:spPr>
          <a:xfrm>
            <a:off x="913497" y="1539442"/>
            <a:ext cx="32573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70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DCB99CC1-4828-0211-5F42-992823550B7B}"/>
              </a:ext>
            </a:extLst>
          </p:cNvPr>
          <p:cNvSpPr txBox="1"/>
          <p:nvPr/>
        </p:nvSpPr>
        <p:spPr>
          <a:xfrm>
            <a:off x="913497" y="1678835"/>
            <a:ext cx="32573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55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3CEF6D8F-A8B9-D6BC-D567-D34601BA0639}"/>
              </a:ext>
            </a:extLst>
          </p:cNvPr>
          <p:cNvSpPr txBox="1"/>
          <p:nvPr/>
        </p:nvSpPr>
        <p:spPr>
          <a:xfrm>
            <a:off x="913497" y="1842907"/>
            <a:ext cx="32573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40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223DB70A-EB8C-E3A9-402F-BD16F234139A}"/>
              </a:ext>
            </a:extLst>
          </p:cNvPr>
          <p:cNvSpPr txBox="1"/>
          <p:nvPr/>
        </p:nvSpPr>
        <p:spPr>
          <a:xfrm>
            <a:off x="913497" y="2006979"/>
            <a:ext cx="32573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35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98145B64-9D51-C243-C65D-A9A90D3A0AB6}"/>
              </a:ext>
            </a:extLst>
          </p:cNvPr>
          <p:cNvSpPr txBox="1"/>
          <p:nvPr/>
        </p:nvSpPr>
        <p:spPr>
          <a:xfrm>
            <a:off x="913497" y="2212012"/>
            <a:ext cx="32573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25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EB3AB241-236A-F557-F356-D7C4FD71921D}"/>
              </a:ext>
            </a:extLst>
          </p:cNvPr>
          <p:cNvSpPr txBox="1"/>
          <p:nvPr/>
        </p:nvSpPr>
        <p:spPr>
          <a:xfrm>
            <a:off x="913497" y="2628404"/>
            <a:ext cx="32573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15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1B20EF51-C557-E9C2-358E-2EF69A59DAAB}"/>
              </a:ext>
            </a:extLst>
          </p:cNvPr>
          <p:cNvSpPr txBox="1"/>
          <p:nvPr/>
        </p:nvSpPr>
        <p:spPr>
          <a:xfrm>
            <a:off x="932935" y="3644992"/>
            <a:ext cx="32573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70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BD1015E3-D079-2999-5376-7789EF9833DD}"/>
              </a:ext>
            </a:extLst>
          </p:cNvPr>
          <p:cNvSpPr txBox="1"/>
          <p:nvPr/>
        </p:nvSpPr>
        <p:spPr>
          <a:xfrm>
            <a:off x="932935" y="4327831"/>
            <a:ext cx="32573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25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1DBA6611-45AF-3B1F-3915-2042C4AF90C8}"/>
              </a:ext>
            </a:extLst>
          </p:cNvPr>
          <p:cNvSpPr txBox="1"/>
          <p:nvPr/>
        </p:nvSpPr>
        <p:spPr>
          <a:xfrm>
            <a:off x="932935" y="3815162"/>
            <a:ext cx="32573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55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B647A5FE-095B-12A3-DAC4-2D6697CAB97B}"/>
              </a:ext>
            </a:extLst>
          </p:cNvPr>
          <p:cNvSpPr txBox="1"/>
          <p:nvPr/>
        </p:nvSpPr>
        <p:spPr>
          <a:xfrm>
            <a:off x="932935" y="3979234"/>
            <a:ext cx="32573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40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F8387337-767A-9F25-1BD6-48C7D4D0E9CC}"/>
              </a:ext>
            </a:extLst>
          </p:cNvPr>
          <p:cNvSpPr txBox="1"/>
          <p:nvPr/>
        </p:nvSpPr>
        <p:spPr>
          <a:xfrm>
            <a:off x="932935" y="4143306"/>
            <a:ext cx="32573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35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32950CD2-CC09-3E9D-1308-EC1C1AD11F13}"/>
              </a:ext>
            </a:extLst>
          </p:cNvPr>
          <p:cNvSpPr txBox="1"/>
          <p:nvPr/>
        </p:nvSpPr>
        <p:spPr>
          <a:xfrm>
            <a:off x="878231" y="3331256"/>
            <a:ext cx="3962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180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1A288A79-440C-04DC-E5F1-F87A5E92A1A3}"/>
              </a:ext>
            </a:extLst>
          </p:cNvPr>
          <p:cNvSpPr txBox="1"/>
          <p:nvPr/>
        </p:nvSpPr>
        <p:spPr>
          <a:xfrm>
            <a:off x="1105216" y="5517280"/>
            <a:ext cx="32573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70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F4BA7ED3-574E-8C68-CD64-F02F5AADF242}"/>
              </a:ext>
            </a:extLst>
          </p:cNvPr>
          <p:cNvSpPr txBox="1"/>
          <p:nvPr/>
        </p:nvSpPr>
        <p:spPr>
          <a:xfrm>
            <a:off x="1105216" y="6083574"/>
            <a:ext cx="32573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25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5D63C8A5-C932-BF9A-4546-767D0B8A3672}"/>
              </a:ext>
            </a:extLst>
          </p:cNvPr>
          <p:cNvSpPr txBox="1"/>
          <p:nvPr/>
        </p:nvSpPr>
        <p:spPr>
          <a:xfrm>
            <a:off x="1105216" y="5651590"/>
            <a:ext cx="32573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55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0D55828F-D3E0-DEC1-0903-78804A65DF8E}"/>
              </a:ext>
            </a:extLst>
          </p:cNvPr>
          <p:cNvSpPr txBox="1"/>
          <p:nvPr/>
        </p:nvSpPr>
        <p:spPr>
          <a:xfrm>
            <a:off x="1105216" y="5806697"/>
            <a:ext cx="32573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40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7CF49984-34B1-C9ED-CB15-AFF1C9955F6B}"/>
              </a:ext>
            </a:extLst>
          </p:cNvPr>
          <p:cNvSpPr txBox="1"/>
          <p:nvPr/>
        </p:nvSpPr>
        <p:spPr>
          <a:xfrm>
            <a:off x="1105216" y="5925944"/>
            <a:ext cx="32573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35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230A9B18-D579-997D-5240-AC27181F1738}"/>
              </a:ext>
            </a:extLst>
          </p:cNvPr>
          <p:cNvSpPr txBox="1"/>
          <p:nvPr/>
        </p:nvSpPr>
        <p:spPr>
          <a:xfrm>
            <a:off x="1050512" y="5230439"/>
            <a:ext cx="3962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180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A90B2331-F0DA-FE39-DE60-69A347E70E1A}"/>
              </a:ext>
            </a:extLst>
          </p:cNvPr>
          <p:cNvSpPr txBox="1"/>
          <p:nvPr/>
        </p:nvSpPr>
        <p:spPr>
          <a:xfrm>
            <a:off x="234063" y="195873"/>
            <a:ext cx="98937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Figure 5b</a:t>
            </a: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64A96C13-CEED-E73E-54DF-0B1204B44982}"/>
              </a:ext>
            </a:extLst>
          </p:cNvPr>
          <p:cNvSpPr txBox="1"/>
          <p:nvPr/>
        </p:nvSpPr>
        <p:spPr>
          <a:xfrm>
            <a:off x="852014" y="989468"/>
            <a:ext cx="43313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>
                <a:latin typeface="Arial" panose="020B0604020202020204" pitchFamily="34" charset="0"/>
                <a:cs typeface="Arial" panose="020B0604020202020204" pitchFamily="34" charset="0"/>
              </a:rPr>
              <a:t>KDa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B3AA69ED-67D5-356D-A8B6-EE38A9CA10E4}"/>
              </a:ext>
            </a:extLst>
          </p:cNvPr>
          <p:cNvSpPr txBox="1"/>
          <p:nvPr/>
        </p:nvSpPr>
        <p:spPr>
          <a:xfrm>
            <a:off x="852014" y="2961264"/>
            <a:ext cx="43313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>
                <a:latin typeface="Arial" panose="020B0604020202020204" pitchFamily="34" charset="0"/>
                <a:cs typeface="Arial" panose="020B0604020202020204" pitchFamily="34" charset="0"/>
              </a:rPr>
              <a:t>KDa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B25182F8-39F5-560C-44E1-D2FFB0D657F9}"/>
              </a:ext>
            </a:extLst>
          </p:cNvPr>
          <p:cNvSpPr txBox="1"/>
          <p:nvPr/>
        </p:nvSpPr>
        <p:spPr>
          <a:xfrm>
            <a:off x="838296" y="4890293"/>
            <a:ext cx="43313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>
                <a:latin typeface="Arial" panose="020B0604020202020204" pitchFamily="34" charset="0"/>
                <a:cs typeface="Arial" panose="020B0604020202020204" pitchFamily="34" charset="0"/>
              </a:rPr>
              <a:t>KDa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73582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" name="Group 58">
            <a:extLst>
              <a:ext uri="{FF2B5EF4-FFF2-40B4-BE49-F238E27FC236}">
                <a16:creationId xmlns:a16="http://schemas.microsoft.com/office/drawing/2014/main" id="{9A418D9B-DF28-0E60-E93A-5E392D33CA01}"/>
              </a:ext>
            </a:extLst>
          </p:cNvPr>
          <p:cNvGrpSpPr/>
          <p:nvPr/>
        </p:nvGrpSpPr>
        <p:grpSpPr>
          <a:xfrm>
            <a:off x="6963300" y="215530"/>
            <a:ext cx="3040226" cy="576240"/>
            <a:chOff x="4107568" y="405577"/>
            <a:chExt cx="3040226" cy="576240"/>
          </a:xfrm>
        </p:grpSpPr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047FE4B2-107A-FCD8-1BF0-4953EE0933E6}"/>
                </a:ext>
              </a:extLst>
            </p:cNvPr>
            <p:cNvSpPr txBox="1"/>
            <p:nvPr/>
          </p:nvSpPr>
          <p:spPr>
            <a:xfrm>
              <a:off x="5441782" y="405577"/>
              <a:ext cx="646632" cy="1200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>
                  <a:latin typeface="Arial" panose="020B0604020202020204" pitchFamily="34" charset="0"/>
                  <a:cs typeface="Arial" panose="020B0604020202020204" pitchFamily="34" charset="0"/>
                </a:rPr>
                <a:t>WT</a:t>
              </a:r>
              <a:r>
                <a:rPr lang="en-US" sz="1100" baseline="30000" dirty="0">
                  <a:latin typeface="Arial" panose="020B0604020202020204" pitchFamily="34" charset="0"/>
                  <a:cs typeface="Arial" panose="020B0604020202020204" pitchFamily="34" charset="0"/>
                </a:rPr>
                <a:t>LC3B</a:t>
              </a:r>
              <a:r>
                <a:rPr lang="en-US" sz="1100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A9ED65D0-0DE4-EA47-F0C1-9C7B648DDE21}"/>
                </a:ext>
              </a:extLst>
            </p:cNvPr>
            <p:cNvSpPr txBox="1"/>
            <p:nvPr/>
          </p:nvSpPr>
          <p:spPr>
            <a:xfrm>
              <a:off x="6051019" y="409486"/>
              <a:ext cx="1096775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LC3B</a:t>
              </a:r>
              <a:r>
                <a:rPr lang="en-US" sz="1100" baseline="30000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AS_Mutant1</a:t>
              </a:r>
              <a:r>
                <a:rPr lang="en-US" sz="1100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</a:p>
          </p:txBody>
        </p: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D51F8CE4-5C35-440D-EC83-241C6BEF2F70}"/>
                </a:ext>
              </a:extLst>
            </p:cNvPr>
            <p:cNvCxnSpPr>
              <a:cxnSpLocks/>
            </p:cNvCxnSpPr>
            <p:nvPr/>
          </p:nvCxnSpPr>
          <p:spPr>
            <a:xfrm>
              <a:off x="5599853" y="677522"/>
              <a:ext cx="392916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50241392-6FF5-4782-1B37-6D0D526DB29E}"/>
                </a:ext>
              </a:extLst>
            </p:cNvPr>
            <p:cNvCxnSpPr>
              <a:cxnSpLocks/>
            </p:cNvCxnSpPr>
            <p:nvPr/>
          </p:nvCxnSpPr>
          <p:spPr>
            <a:xfrm>
              <a:off x="6081005" y="677522"/>
              <a:ext cx="354500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BA5BB2B4-14C4-177D-A163-3F683FCB8E83}"/>
                </a:ext>
              </a:extLst>
            </p:cNvPr>
            <p:cNvSpPr txBox="1"/>
            <p:nvPr/>
          </p:nvSpPr>
          <p:spPr>
            <a:xfrm>
              <a:off x="5572742" y="643263"/>
              <a:ext cx="143121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-  +   -  +</a:t>
              </a: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DA6590ED-0F85-8103-2755-5AB229BB7BA3}"/>
                </a:ext>
              </a:extLst>
            </p:cNvPr>
            <p:cNvSpPr txBox="1"/>
            <p:nvPr/>
          </p:nvSpPr>
          <p:spPr>
            <a:xfrm>
              <a:off x="4107568" y="682201"/>
              <a:ext cx="1334214" cy="12007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sz="1100" dirty="0">
                  <a:latin typeface="Arial" panose="020B0604020202020204" pitchFamily="34" charset="0"/>
                  <a:cs typeface="Arial" panose="020B0604020202020204" pitchFamily="34" charset="0"/>
                </a:rPr>
                <a:t>Lysosomal Inhibitor</a:t>
              </a:r>
            </a:p>
          </p:txBody>
        </p:sp>
      </p:grpSp>
      <p:pic>
        <p:nvPicPr>
          <p:cNvPr id="66" name="Picture 65" descr="A close-up of a test&#10;&#10;AI-generated content may be incorrect.">
            <a:extLst>
              <a:ext uri="{FF2B5EF4-FFF2-40B4-BE49-F238E27FC236}">
                <a16:creationId xmlns:a16="http://schemas.microsoft.com/office/drawing/2014/main" id="{17EC2819-10B3-B4FD-6CC0-2C05E3688B7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13000" contrast="38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p:blipFill>
        <p:spPr>
          <a:xfrm>
            <a:off x="8172908" y="803100"/>
            <a:ext cx="1542476" cy="1231759"/>
          </a:xfrm>
          <a:prstGeom prst="rect">
            <a:avLst/>
          </a:prstGeom>
          <a:ln>
            <a:noFill/>
          </a:ln>
        </p:spPr>
      </p:pic>
      <p:sp>
        <p:nvSpPr>
          <p:cNvPr id="67" name="Rectangle 66">
            <a:extLst>
              <a:ext uri="{FF2B5EF4-FFF2-40B4-BE49-F238E27FC236}">
                <a16:creationId xmlns:a16="http://schemas.microsoft.com/office/drawing/2014/main" id="{E73D8258-C097-603C-8D99-58205E58D730}"/>
              </a:ext>
            </a:extLst>
          </p:cNvPr>
          <p:cNvSpPr/>
          <p:nvPr/>
        </p:nvSpPr>
        <p:spPr>
          <a:xfrm>
            <a:off x="8401334" y="1121295"/>
            <a:ext cx="894334" cy="277199"/>
          </a:xfrm>
          <a:prstGeom prst="rect">
            <a:avLst/>
          </a:prstGeom>
          <a:noFill/>
          <a:ln w="952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E2C954C2-79DF-31F2-C324-B7258DD9A04F}"/>
              </a:ext>
            </a:extLst>
          </p:cNvPr>
          <p:cNvSpPr txBox="1"/>
          <p:nvPr/>
        </p:nvSpPr>
        <p:spPr>
          <a:xfrm>
            <a:off x="7360256" y="1157369"/>
            <a:ext cx="81304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1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FAM134B</a:t>
            </a:r>
          </a:p>
        </p:txBody>
      </p:sp>
      <p:grpSp>
        <p:nvGrpSpPr>
          <p:cNvPr id="71" name="Group 70">
            <a:extLst>
              <a:ext uri="{FF2B5EF4-FFF2-40B4-BE49-F238E27FC236}">
                <a16:creationId xmlns:a16="http://schemas.microsoft.com/office/drawing/2014/main" id="{843E9213-93B5-34F6-A6C8-AFC0044332E4}"/>
              </a:ext>
            </a:extLst>
          </p:cNvPr>
          <p:cNvGrpSpPr/>
          <p:nvPr/>
        </p:nvGrpSpPr>
        <p:grpSpPr>
          <a:xfrm>
            <a:off x="5902304" y="2126867"/>
            <a:ext cx="3463648" cy="1425809"/>
            <a:chOff x="4250149" y="2046189"/>
            <a:chExt cx="3463648" cy="1425809"/>
          </a:xfrm>
        </p:grpSpPr>
        <p:pic>
          <p:nvPicPr>
            <p:cNvPr id="69" name="Picture 68" descr="A black line on a white background&#10;&#10;AI-generated content may be incorrect.">
              <a:extLst>
                <a:ext uri="{FF2B5EF4-FFF2-40B4-BE49-F238E27FC236}">
                  <a16:creationId xmlns:a16="http://schemas.microsoft.com/office/drawing/2014/main" id="{2048B065-D09E-78A0-8314-BDBC25311C7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rightnessContrast bright="-15000" contrast="31000"/>
                      </a14:imgEffect>
                    </a14:imgLayer>
                  </a14:imgProps>
                </a:ext>
              </a:extLst>
            </a:blip>
            <a:srcRect b="48342"/>
            <a:stretch>
              <a:fillRect/>
            </a:stretch>
          </p:blipFill>
          <p:spPr>
            <a:xfrm>
              <a:off x="4250149" y="2046189"/>
              <a:ext cx="3456206" cy="1425809"/>
            </a:xfrm>
            <a:prstGeom prst="rect">
              <a:avLst/>
            </a:prstGeom>
            <a:ln>
              <a:noFill/>
            </a:ln>
          </p:spPr>
        </p:pic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051FE7A2-56AE-261C-F1C8-1E227A29A578}"/>
                </a:ext>
              </a:extLst>
            </p:cNvPr>
            <p:cNvSpPr/>
            <p:nvPr/>
          </p:nvSpPr>
          <p:spPr>
            <a:xfrm>
              <a:off x="6803431" y="2472617"/>
              <a:ext cx="910366" cy="277199"/>
            </a:xfrm>
            <a:prstGeom prst="rect">
              <a:avLst/>
            </a:prstGeom>
            <a:noFill/>
            <a:ln w="9525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72" name="TextBox 71">
            <a:extLst>
              <a:ext uri="{FF2B5EF4-FFF2-40B4-BE49-F238E27FC236}">
                <a16:creationId xmlns:a16="http://schemas.microsoft.com/office/drawing/2014/main" id="{BF895084-C84C-EC17-E176-2D31B4D063FB}"/>
              </a:ext>
            </a:extLst>
          </p:cNvPr>
          <p:cNvSpPr txBox="1"/>
          <p:nvPr/>
        </p:nvSpPr>
        <p:spPr>
          <a:xfrm>
            <a:off x="5854557" y="1845429"/>
            <a:ext cx="64152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1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VPS4A</a:t>
            </a:r>
          </a:p>
        </p:txBody>
      </p:sp>
      <p:pic>
        <p:nvPicPr>
          <p:cNvPr id="73" name="Picture 72" descr="A white and black background&#10;&#10;AI-generated content may be incorrect.">
            <a:extLst>
              <a:ext uri="{FF2B5EF4-FFF2-40B4-BE49-F238E27FC236}">
                <a16:creationId xmlns:a16="http://schemas.microsoft.com/office/drawing/2014/main" id="{1A2D700A-1129-FC01-BD7F-E6168E2A3D61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bright="-13000" contrast="41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p:blipFill>
        <p:spPr>
          <a:xfrm>
            <a:off x="8401334" y="3888654"/>
            <a:ext cx="964618" cy="727298"/>
          </a:xfrm>
          <a:prstGeom prst="rect">
            <a:avLst/>
          </a:prstGeom>
          <a:ln>
            <a:noFill/>
          </a:ln>
        </p:spPr>
      </p:pic>
      <p:sp>
        <p:nvSpPr>
          <p:cNvPr id="74" name="Rectangle 73">
            <a:extLst>
              <a:ext uri="{FF2B5EF4-FFF2-40B4-BE49-F238E27FC236}">
                <a16:creationId xmlns:a16="http://schemas.microsoft.com/office/drawing/2014/main" id="{1D25495F-A561-5C02-DA02-5434FC786F49}"/>
              </a:ext>
            </a:extLst>
          </p:cNvPr>
          <p:cNvSpPr/>
          <p:nvPr/>
        </p:nvSpPr>
        <p:spPr>
          <a:xfrm>
            <a:off x="8428474" y="3971323"/>
            <a:ext cx="910366" cy="574173"/>
          </a:xfrm>
          <a:prstGeom prst="rect">
            <a:avLst/>
          </a:prstGeom>
          <a:noFill/>
          <a:ln w="952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56959F58-B609-2F20-3306-24C857C34F7D}"/>
              </a:ext>
            </a:extLst>
          </p:cNvPr>
          <p:cNvSpPr txBox="1"/>
          <p:nvPr/>
        </p:nvSpPr>
        <p:spPr>
          <a:xfrm>
            <a:off x="7672393" y="4090092"/>
            <a:ext cx="74251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Ponceau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96FB9276-D938-5FE3-D9C1-C92345B9044C}"/>
              </a:ext>
            </a:extLst>
          </p:cNvPr>
          <p:cNvSpPr txBox="1"/>
          <p:nvPr/>
        </p:nvSpPr>
        <p:spPr>
          <a:xfrm>
            <a:off x="9316276" y="3958645"/>
            <a:ext cx="52931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latin typeface="Arial" panose="020B0604020202020204" pitchFamily="34" charset="0"/>
                <a:cs typeface="Arial" panose="020B0604020202020204" pitchFamily="34" charset="0"/>
              </a:rPr>
              <a:t>70 </a:t>
            </a:r>
            <a:r>
              <a:rPr lang="en-US" sz="800" dirty="0" err="1">
                <a:latin typeface="Arial" panose="020B0604020202020204" pitchFamily="34" charset="0"/>
                <a:cs typeface="Arial" panose="020B0604020202020204" pitchFamily="34" charset="0"/>
              </a:rPr>
              <a:t>KDa</a:t>
            </a:r>
            <a:endParaRPr lang="en-US" sz="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A8D65217-A475-F5E6-F2FF-98E4CE7E4900}"/>
              </a:ext>
            </a:extLst>
          </p:cNvPr>
          <p:cNvSpPr txBox="1"/>
          <p:nvPr/>
        </p:nvSpPr>
        <p:spPr>
          <a:xfrm>
            <a:off x="9322625" y="4142057"/>
            <a:ext cx="52931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latin typeface="Arial" panose="020B0604020202020204" pitchFamily="34" charset="0"/>
                <a:cs typeface="Arial" panose="020B0604020202020204" pitchFamily="34" charset="0"/>
              </a:rPr>
              <a:t>40 </a:t>
            </a:r>
            <a:r>
              <a:rPr lang="en-US" sz="800" dirty="0" err="1">
                <a:latin typeface="Arial" panose="020B0604020202020204" pitchFamily="34" charset="0"/>
                <a:cs typeface="Arial" panose="020B0604020202020204" pitchFamily="34" charset="0"/>
              </a:rPr>
              <a:t>KDa</a:t>
            </a:r>
            <a:endParaRPr lang="en-US" sz="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E293223A-8DA7-902E-F388-526F12100ECD}"/>
              </a:ext>
            </a:extLst>
          </p:cNvPr>
          <p:cNvCxnSpPr/>
          <p:nvPr/>
        </p:nvCxnSpPr>
        <p:spPr>
          <a:xfrm>
            <a:off x="9698992" y="1180050"/>
            <a:ext cx="8468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0" name="TextBox 79">
            <a:extLst>
              <a:ext uri="{FF2B5EF4-FFF2-40B4-BE49-F238E27FC236}">
                <a16:creationId xmlns:a16="http://schemas.microsoft.com/office/drawing/2014/main" id="{21C3EC38-E43B-84CA-348E-D0485BA19469}"/>
              </a:ext>
            </a:extLst>
          </p:cNvPr>
          <p:cNvSpPr txBox="1"/>
          <p:nvPr/>
        </p:nvSpPr>
        <p:spPr>
          <a:xfrm>
            <a:off x="9715384" y="1079823"/>
            <a:ext cx="59933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dirty="0">
                <a:latin typeface="Arial" panose="020B0604020202020204" pitchFamily="34" charset="0"/>
                <a:cs typeface="Arial" panose="020B0604020202020204" pitchFamily="34" charset="0"/>
              </a:rPr>
              <a:t>70 </a:t>
            </a:r>
            <a:r>
              <a:rPr lang="en-US" sz="800" dirty="0" err="1">
                <a:latin typeface="Arial" panose="020B0604020202020204" pitchFamily="34" charset="0"/>
                <a:cs typeface="Arial" panose="020B0604020202020204" pitchFamily="34" charset="0"/>
              </a:rPr>
              <a:t>KDa</a:t>
            </a:r>
            <a:endParaRPr lang="en-US" sz="800" dirty="0"/>
          </a:p>
        </p:txBody>
      </p: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D4A43851-7BCA-3A64-EC96-46B44E62A762}"/>
              </a:ext>
            </a:extLst>
          </p:cNvPr>
          <p:cNvCxnSpPr/>
          <p:nvPr/>
        </p:nvCxnSpPr>
        <p:spPr>
          <a:xfrm>
            <a:off x="9682600" y="1377031"/>
            <a:ext cx="8468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2" name="TextBox 81">
            <a:extLst>
              <a:ext uri="{FF2B5EF4-FFF2-40B4-BE49-F238E27FC236}">
                <a16:creationId xmlns:a16="http://schemas.microsoft.com/office/drawing/2014/main" id="{3DCD49C6-1570-0566-60DF-BC3F71F6E1C0}"/>
              </a:ext>
            </a:extLst>
          </p:cNvPr>
          <p:cNvSpPr txBox="1"/>
          <p:nvPr/>
        </p:nvSpPr>
        <p:spPr>
          <a:xfrm>
            <a:off x="9698992" y="1276804"/>
            <a:ext cx="59933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dirty="0">
                <a:latin typeface="Arial" panose="020B0604020202020204" pitchFamily="34" charset="0"/>
                <a:cs typeface="Arial" panose="020B0604020202020204" pitchFamily="34" charset="0"/>
              </a:rPr>
              <a:t>40 </a:t>
            </a:r>
            <a:r>
              <a:rPr lang="en-US" sz="800" dirty="0" err="1">
                <a:latin typeface="Arial" panose="020B0604020202020204" pitchFamily="34" charset="0"/>
                <a:cs typeface="Arial" panose="020B0604020202020204" pitchFamily="34" charset="0"/>
              </a:rPr>
              <a:t>KDa</a:t>
            </a:r>
            <a:endParaRPr lang="en-US" sz="800" dirty="0"/>
          </a:p>
        </p:txBody>
      </p: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F2B7F078-AB39-1995-67F1-4276614B74E1}"/>
              </a:ext>
            </a:extLst>
          </p:cNvPr>
          <p:cNvCxnSpPr/>
          <p:nvPr/>
        </p:nvCxnSpPr>
        <p:spPr>
          <a:xfrm>
            <a:off x="9372404" y="2653334"/>
            <a:ext cx="8468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4" name="TextBox 83">
            <a:extLst>
              <a:ext uri="{FF2B5EF4-FFF2-40B4-BE49-F238E27FC236}">
                <a16:creationId xmlns:a16="http://schemas.microsoft.com/office/drawing/2014/main" id="{B3F69962-DC33-C20C-326A-42B404F850BA}"/>
              </a:ext>
            </a:extLst>
          </p:cNvPr>
          <p:cNvSpPr txBox="1"/>
          <p:nvPr/>
        </p:nvSpPr>
        <p:spPr>
          <a:xfrm>
            <a:off x="9399327" y="2548523"/>
            <a:ext cx="59933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dirty="0">
                <a:latin typeface="Arial" panose="020B0604020202020204" pitchFamily="34" charset="0"/>
                <a:cs typeface="Arial" panose="020B0604020202020204" pitchFamily="34" charset="0"/>
              </a:rPr>
              <a:t>55 </a:t>
            </a:r>
            <a:r>
              <a:rPr lang="en-US" sz="800" dirty="0" err="1">
                <a:latin typeface="Arial" panose="020B0604020202020204" pitchFamily="34" charset="0"/>
                <a:cs typeface="Arial" panose="020B0604020202020204" pitchFamily="34" charset="0"/>
              </a:rPr>
              <a:t>KDa</a:t>
            </a:r>
            <a:endParaRPr lang="en-US" sz="800" dirty="0"/>
          </a:p>
        </p:txBody>
      </p: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7A98F28B-D1CF-4C8C-7B03-905CBC4909D2}"/>
              </a:ext>
            </a:extLst>
          </p:cNvPr>
          <p:cNvCxnSpPr/>
          <p:nvPr/>
        </p:nvCxnSpPr>
        <p:spPr>
          <a:xfrm>
            <a:off x="9369041" y="2782569"/>
            <a:ext cx="8468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6" name="TextBox 85">
            <a:extLst>
              <a:ext uri="{FF2B5EF4-FFF2-40B4-BE49-F238E27FC236}">
                <a16:creationId xmlns:a16="http://schemas.microsoft.com/office/drawing/2014/main" id="{78598217-B229-E335-32F0-98023C4115BD}"/>
              </a:ext>
            </a:extLst>
          </p:cNvPr>
          <p:cNvSpPr txBox="1"/>
          <p:nvPr/>
        </p:nvSpPr>
        <p:spPr>
          <a:xfrm>
            <a:off x="9385433" y="2682342"/>
            <a:ext cx="59933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dirty="0">
                <a:latin typeface="Arial" panose="020B0604020202020204" pitchFamily="34" charset="0"/>
                <a:cs typeface="Arial" panose="020B0604020202020204" pitchFamily="34" charset="0"/>
              </a:rPr>
              <a:t>40 </a:t>
            </a:r>
            <a:r>
              <a:rPr lang="en-US" sz="800" dirty="0" err="1">
                <a:latin typeface="Arial" panose="020B0604020202020204" pitchFamily="34" charset="0"/>
                <a:cs typeface="Arial" panose="020B0604020202020204" pitchFamily="34" charset="0"/>
              </a:rPr>
              <a:t>KDa</a:t>
            </a:r>
            <a:endParaRPr lang="en-US" sz="800" dirty="0"/>
          </a:p>
        </p:txBody>
      </p:sp>
      <p:pic>
        <p:nvPicPr>
          <p:cNvPr id="87" name="Picture 86" descr="A close-up of a test&#10;&#10;AI-generated content may be incorrect.">
            <a:extLst>
              <a:ext uri="{FF2B5EF4-FFF2-40B4-BE49-F238E27FC236}">
                <a16:creationId xmlns:a16="http://schemas.microsoft.com/office/drawing/2014/main" id="{C5661778-F1E6-AB56-CD41-84B599E68E70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sharpenSoften amount="-5000"/>
                    </a14:imgEffect>
                    <a14:imgEffect>
                      <a14:brightnessContrast contrast="-52000"/>
                    </a14:imgEffect>
                  </a14:imgLayer>
                </a14:imgProps>
              </a:ext>
            </a:extLst>
          </a:blip>
          <a:srcRect b="24121"/>
          <a:stretch>
            <a:fillRect/>
          </a:stretch>
        </p:blipFill>
        <p:spPr>
          <a:xfrm>
            <a:off x="2249296" y="804326"/>
            <a:ext cx="1687671" cy="1265507"/>
          </a:xfrm>
          <a:prstGeom prst="rect">
            <a:avLst/>
          </a:prstGeom>
          <a:ln>
            <a:solidFill>
              <a:schemeClr val="bg2">
                <a:lumMod val="90000"/>
              </a:schemeClr>
            </a:solidFill>
          </a:ln>
        </p:spPr>
      </p:pic>
      <p:sp>
        <p:nvSpPr>
          <p:cNvPr id="88" name="Rectangle 87">
            <a:extLst>
              <a:ext uri="{FF2B5EF4-FFF2-40B4-BE49-F238E27FC236}">
                <a16:creationId xmlns:a16="http://schemas.microsoft.com/office/drawing/2014/main" id="{9151881C-13FD-74F8-9203-C18BD25A4506}"/>
              </a:ext>
            </a:extLst>
          </p:cNvPr>
          <p:cNvSpPr/>
          <p:nvPr/>
        </p:nvSpPr>
        <p:spPr>
          <a:xfrm>
            <a:off x="2513716" y="978104"/>
            <a:ext cx="894334" cy="329729"/>
          </a:xfrm>
          <a:prstGeom prst="rect">
            <a:avLst/>
          </a:prstGeom>
          <a:noFill/>
          <a:ln w="952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9" name="Group 88">
            <a:extLst>
              <a:ext uri="{FF2B5EF4-FFF2-40B4-BE49-F238E27FC236}">
                <a16:creationId xmlns:a16="http://schemas.microsoft.com/office/drawing/2014/main" id="{B7C73F97-2ECF-6E07-9630-2D95B89020C9}"/>
              </a:ext>
            </a:extLst>
          </p:cNvPr>
          <p:cNvGrpSpPr/>
          <p:nvPr/>
        </p:nvGrpSpPr>
        <p:grpSpPr>
          <a:xfrm>
            <a:off x="1007241" y="270092"/>
            <a:ext cx="3040226" cy="576240"/>
            <a:chOff x="4107568" y="405577"/>
            <a:chExt cx="3040226" cy="576240"/>
          </a:xfrm>
        </p:grpSpPr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0335163B-7DD1-B475-EF14-3AD222A3D826}"/>
                </a:ext>
              </a:extLst>
            </p:cNvPr>
            <p:cNvSpPr txBox="1"/>
            <p:nvPr/>
          </p:nvSpPr>
          <p:spPr>
            <a:xfrm>
              <a:off x="5441782" y="405577"/>
              <a:ext cx="646632" cy="1200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>
                  <a:latin typeface="Arial" panose="020B0604020202020204" pitchFamily="34" charset="0"/>
                  <a:cs typeface="Arial" panose="020B0604020202020204" pitchFamily="34" charset="0"/>
                </a:rPr>
                <a:t>WT</a:t>
              </a:r>
              <a:r>
                <a:rPr lang="en-US" sz="1100" baseline="30000" dirty="0">
                  <a:latin typeface="Arial" panose="020B0604020202020204" pitchFamily="34" charset="0"/>
                  <a:cs typeface="Arial" panose="020B0604020202020204" pitchFamily="34" charset="0"/>
                </a:rPr>
                <a:t>LC3B</a:t>
              </a:r>
              <a:r>
                <a:rPr lang="en-US" sz="1100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</a:p>
          </p:txBody>
        </p: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8AD682E1-5B9B-D3F2-BC54-47C4055A999B}"/>
                </a:ext>
              </a:extLst>
            </p:cNvPr>
            <p:cNvSpPr txBox="1"/>
            <p:nvPr/>
          </p:nvSpPr>
          <p:spPr>
            <a:xfrm>
              <a:off x="6051019" y="409486"/>
              <a:ext cx="1096775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LC3B</a:t>
              </a:r>
              <a:r>
                <a:rPr lang="en-US" sz="1100" baseline="30000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AS_Mutant1</a:t>
              </a:r>
              <a:r>
                <a:rPr lang="en-US" sz="1100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</a:p>
          </p:txBody>
        </p:sp>
        <p:cxnSp>
          <p:nvCxnSpPr>
            <p:cNvPr id="92" name="Straight Connector 91">
              <a:extLst>
                <a:ext uri="{FF2B5EF4-FFF2-40B4-BE49-F238E27FC236}">
                  <a16:creationId xmlns:a16="http://schemas.microsoft.com/office/drawing/2014/main" id="{D9FA05A9-037E-C28A-383D-6ABF219C0244}"/>
                </a:ext>
              </a:extLst>
            </p:cNvPr>
            <p:cNvCxnSpPr>
              <a:cxnSpLocks/>
            </p:cNvCxnSpPr>
            <p:nvPr/>
          </p:nvCxnSpPr>
          <p:spPr>
            <a:xfrm>
              <a:off x="5599853" y="677522"/>
              <a:ext cx="392916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93" name="Straight Connector 92">
              <a:extLst>
                <a:ext uri="{FF2B5EF4-FFF2-40B4-BE49-F238E27FC236}">
                  <a16:creationId xmlns:a16="http://schemas.microsoft.com/office/drawing/2014/main" id="{B24AEDBA-54A8-9F67-EF79-A4969308FF22}"/>
                </a:ext>
              </a:extLst>
            </p:cNvPr>
            <p:cNvCxnSpPr>
              <a:cxnSpLocks/>
            </p:cNvCxnSpPr>
            <p:nvPr/>
          </p:nvCxnSpPr>
          <p:spPr>
            <a:xfrm>
              <a:off x="6081005" y="677522"/>
              <a:ext cx="354500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716E8363-4187-1B2A-E96E-F34ACD3072A4}"/>
                </a:ext>
              </a:extLst>
            </p:cNvPr>
            <p:cNvSpPr txBox="1"/>
            <p:nvPr/>
          </p:nvSpPr>
          <p:spPr>
            <a:xfrm>
              <a:off x="5572742" y="643263"/>
              <a:ext cx="143121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-  +   -  +</a:t>
              </a:r>
            </a:p>
          </p:txBody>
        </p: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C6D73F5F-1291-6986-5BE5-069A9A36200D}"/>
                </a:ext>
              </a:extLst>
            </p:cNvPr>
            <p:cNvSpPr txBox="1"/>
            <p:nvPr/>
          </p:nvSpPr>
          <p:spPr>
            <a:xfrm>
              <a:off x="4107568" y="682201"/>
              <a:ext cx="1334214" cy="12007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sz="1100" dirty="0">
                  <a:latin typeface="Arial" panose="020B0604020202020204" pitchFamily="34" charset="0"/>
                  <a:cs typeface="Arial" panose="020B0604020202020204" pitchFamily="34" charset="0"/>
                </a:rPr>
                <a:t>Lysosomal Inhibitor</a:t>
              </a:r>
            </a:p>
          </p:txBody>
        </p:sp>
      </p:grpSp>
      <p:pic>
        <p:nvPicPr>
          <p:cNvPr id="96" name="Picture 95" descr="A black lines on a white background&#10;&#10;AI-generated content may be incorrect.">
            <a:extLst>
              <a:ext uri="{FF2B5EF4-FFF2-40B4-BE49-F238E27FC236}">
                <a16:creationId xmlns:a16="http://schemas.microsoft.com/office/drawing/2014/main" id="{551A0FE9-7DAD-414B-30A2-E5083FCC686A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sharpenSoften amount="36000"/>
                    </a14:imgEffect>
                    <a14:imgEffect>
                      <a14:brightnessContrast bright="-12000" contrast="31000"/>
                    </a14:imgEffect>
                  </a14:imgLayer>
                </a14:imgProps>
              </a:ext>
            </a:extLst>
          </a:blip>
          <a:srcRect l="762" t="834" r="3028" b="44361"/>
          <a:stretch>
            <a:fillRect/>
          </a:stretch>
        </p:blipFill>
        <p:spPr>
          <a:xfrm>
            <a:off x="878276" y="2153698"/>
            <a:ext cx="3635416" cy="1488176"/>
          </a:xfrm>
          <a:prstGeom prst="rect">
            <a:avLst/>
          </a:prstGeom>
          <a:ln>
            <a:noFill/>
          </a:ln>
        </p:spPr>
      </p:pic>
      <p:sp>
        <p:nvSpPr>
          <p:cNvPr id="97" name="Rectangle 96">
            <a:extLst>
              <a:ext uri="{FF2B5EF4-FFF2-40B4-BE49-F238E27FC236}">
                <a16:creationId xmlns:a16="http://schemas.microsoft.com/office/drawing/2014/main" id="{F989E8E6-24FD-EB43-70AE-529B939F322A}"/>
              </a:ext>
            </a:extLst>
          </p:cNvPr>
          <p:cNvSpPr/>
          <p:nvPr/>
        </p:nvSpPr>
        <p:spPr>
          <a:xfrm>
            <a:off x="2440843" y="2761643"/>
            <a:ext cx="1063511" cy="329729"/>
          </a:xfrm>
          <a:prstGeom prst="rect">
            <a:avLst/>
          </a:prstGeom>
          <a:noFill/>
          <a:ln w="952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8" name="Picture 97" descr="A close-up of a test&#10;&#10;AI-generated content may be incorrect.">
            <a:extLst>
              <a:ext uri="{FF2B5EF4-FFF2-40B4-BE49-F238E27FC236}">
                <a16:creationId xmlns:a16="http://schemas.microsoft.com/office/drawing/2014/main" id="{7BC03E37-4C65-5F0B-DFDD-12240B2FCAA6}"/>
              </a:ext>
            </a:extLst>
          </p:cNvPr>
          <p:cNvPicPr>
            <a:picLocks noChangeAspect="1"/>
          </p:cNvPicPr>
          <p:nvPr/>
        </p:nvPicPr>
        <p:blipFill rotWithShape="1">
          <a:blip r:embed="rId12"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brightnessContrast bright="-9000" contrast="25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p:blipFill>
        <p:spPr>
          <a:xfrm>
            <a:off x="1510876" y="3761400"/>
            <a:ext cx="2175071" cy="1626327"/>
          </a:xfrm>
          <a:prstGeom prst="rect">
            <a:avLst/>
          </a:prstGeom>
          <a:ln>
            <a:noFill/>
          </a:ln>
        </p:spPr>
      </p:pic>
      <p:sp>
        <p:nvSpPr>
          <p:cNvPr id="99" name="Rectangle 98">
            <a:extLst>
              <a:ext uri="{FF2B5EF4-FFF2-40B4-BE49-F238E27FC236}">
                <a16:creationId xmlns:a16="http://schemas.microsoft.com/office/drawing/2014/main" id="{D656A5CB-921E-D97D-A7EC-EE576DE75284}"/>
              </a:ext>
            </a:extLst>
          </p:cNvPr>
          <p:cNvSpPr/>
          <p:nvPr/>
        </p:nvSpPr>
        <p:spPr>
          <a:xfrm>
            <a:off x="2418936" y="4181770"/>
            <a:ext cx="1063511" cy="329729"/>
          </a:xfrm>
          <a:prstGeom prst="rect">
            <a:avLst/>
          </a:prstGeom>
          <a:noFill/>
          <a:ln w="952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B06AE4BD-C2B2-EB92-18AA-99CAB63962C5}"/>
              </a:ext>
            </a:extLst>
          </p:cNvPr>
          <p:cNvSpPr txBox="1"/>
          <p:nvPr/>
        </p:nvSpPr>
        <p:spPr>
          <a:xfrm>
            <a:off x="223930" y="2680354"/>
            <a:ext cx="65434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1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LC3B  I</a:t>
            </a:r>
          </a:p>
          <a:p>
            <a:pPr algn="r"/>
            <a:r>
              <a:rPr lang="en-US" sz="11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II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C73A2F83-90D3-D2DD-820D-58EB6A50D21D}"/>
              </a:ext>
            </a:extLst>
          </p:cNvPr>
          <p:cNvSpPr txBox="1"/>
          <p:nvPr/>
        </p:nvSpPr>
        <p:spPr>
          <a:xfrm>
            <a:off x="1672467" y="978032"/>
            <a:ext cx="56938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1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EGFP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81020A82-E8B7-BB83-883E-12523B4392A0}"/>
              </a:ext>
            </a:extLst>
          </p:cNvPr>
          <p:cNvSpPr txBox="1"/>
          <p:nvPr/>
        </p:nvSpPr>
        <p:spPr>
          <a:xfrm>
            <a:off x="1024891" y="4256846"/>
            <a:ext cx="43633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1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P62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04509491-78EF-4173-331B-4625C5D2D9EB}"/>
              </a:ext>
            </a:extLst>
          </p:cNvPr>
          <p:cNvSpPr txBox="1"/>
          <p:nvPr/>
        </p:nvSpPr>
        <p:spPr>
          <a:xfrm>
            <a:off x="150222" y="81587"/>
            <a:ext cx="97975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Figure 5e</a:t>
            </a:r>
          </a:p>
        </p:txBody>
      </p:sp>
    </p:spTree>
    <p:extLst>
      <p:ext uri="{BB962C8B-B14F-4D97-AF65-F5344CB8AC3E}">
        <p14:creationId xmlns:p14="http://schemas.microsoft.com/office/powerpoint/2010/main" val="24986292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95</Words>
  <Application>Microsoft Macintosh PowerPoint</Application>
  <PresentationFormat>Widescreen</PresentationFormat>
  <Paragraphs>59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Jesu Castin</dc:creator>
  <cp:lastModifiedBy>Jesu Castin</cp:lastModifiedBy>
  <cp:revision>2</cp:revision>
  <dcterms:created xsi:type="dcterms:W3CDTF">2026-07-01T05:15:01Z</dcterms:created>
  <dcterms:modified xsi:type="dcterms:W3CDTF">2026-07-01T05:22:32Z</dcterms:modified>
</cp:coreProperties>
</file>